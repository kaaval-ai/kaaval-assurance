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2ad880353e4e60" /><Relationship Type="http://schemas.openxmlformats.org/officeDocument/2006/relationships/extended-properties" Target="/docProps/app.xml" Id="R250849fc3d1d4be4" /><Relationship Type="http://schemas.openxmlformats.org/officeDocument/2006/relationships/officeDocument" Target="/ppt/presentation.xml" Id="R629a8705792743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0a1d3c06ae4ce8"/>
  </p:sldMasterIdLst>
  <p:notesMasterIdLst>
    <p:notesMasterId xmlns:r="http://schemas.openxmlformats.org/officeDocument/2006/relationships" r:id="Rd40f83d775194efc"/>
  </p:notesMasterIdLst>
  <p:sldIdLst>
    <p:sldId xmlns:r="http://schemas.openxmlformats.org/officeDocument/2006/relationships" id="256" r:id="R76d6273c095f4307"/>
    <p:sldId xmlns:r="http://schemas.openxmlformats.org/officeDocument/2006/relationships" id="257" r:id="R5e285140da314d6b"/>
    <p:sldId xmlns:r="http://schemas.openxmlformats.org/officeDocument/2006/relationships" id="258" r:id="Re78277247bd54661"/>
    <p:sldId xmlns:r="http://schemas.openxmlformats.org/officeDocument/2006/relationships" id="259" r:id="Rdc10f40ec3104cef"/>
    <p:sldId xmlns:r="http://schemas.openxmlformats.org/officeDocument/2006/relationships" id="260" r:id="R47febfca23d34beb"/>
    <p:sldId xmlns:r="http://schemas.openxmlformats.org/officeDocument/2006/relationships" id="261" r:id="R37fa5b31429442d9"/>
    <p:sldId xmlns:r="http://schemas.openxmlformats.org/officeDocument/2006/relationships" id="262" r:id="R6ee9ce10d9ac4e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12be47a7a4cbf" /><Relationship Type="http://schemas.openxmlformats.org/officeDocument/2006/relationships/slideMaster" Target="/ppt/slideMasters/slideMaster1.xml" Id="R700a1d3c06ae4ce8" /><Relationship Type="http://schemas.openxmlformats.org/officeDocument/2006/relationships/notesMaster" Target="/ppt/notesMasters/notesMaster1.xml" Id="Rd40f83d775194efc" /><Relationship Type="http://schemas.openxmlformats.org/officeDocument/2006/relationships/presProps" Target="/ppt/presProps.xml" Id="R58a9a9d8d8e24a34" /><Relationship Type="http://schemas.openxmlformats.org/officeDocument/2006/relationships/viewProps" Target="/ppt/viewProps.xml" Id="R7979ddfc4fe34b82" /><Relationship Type="http://schemas.openxmlformats.org/officeDocument/2006/relationships/tableStyles" Target="/ppt/tableStyles.xml" Id="R58421f493cfe4446" /><Relationship Type="http://schemas.openxmlformats.org/officeDocument/2006/relationships/slide" Target="/ppt/slides/slide1.xml" Id="R76d6273c095f4307" /><Relationship Type="http://schemas.openxmlformats.org/officeDocument/2006/relationships/slide" Target="/ppt/slides/slide2.xml" Id="R5e285140da314d6b" /><Relationship Type="http://schemas.openxmlformats.org/officeDocument/2006/relationships/slide" Target="/ppt/slides/slide3.xml" Id="Re78277247bd54661" /><Relationship Type="http://schemas.openxmlformats.org/officeDocument/2006/relationships/slide" Target="/ppt/slides/slide4.xml" Id="Rdc10f40ec3104cef" /><Relationship Type="http://schemas.openxmlformats.org/officeDocument/2006/relationships/slide" Target="/ppt/slides/slide5.xml" Id="R47febfca23d34beb" /><Relationship Type="http://schemas.openxmlformats.org/officeDocument/2006/relationships/slide" Target="/ppt/slides/slide6.xml" Id="R37fa5b31429442d9" /><Relationship Type="http://schemas.openxmlformats.org/officeDocument/2006/relationships/slide" Target="/ppt/slides/slide7.xml" Id="R6ee9ce10d9ac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55e7f22ee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3b6bd497af4171" /><Relationship Type="http://schemas.openxmlformats.org/officeDocument/2006/relationships/notesMaster" Target="/ppt/notesMasters/notesMaster1.xml" Id="R858558c7e494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5ae648d1a54a60" /><Relationship Type="http://schemas.openxmlformats.org/officeDocument/2006/relationships/notesMaster" Target="/ppt/notesMasters/notesMaster1.xml" Id="R9383256b5626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d0bb6257e4970" /><Relationship Type="http://schemas.openxmlformats.org/officeDocument/2006/relationships/notesMaster" Target="/ppt/notesMasters/notesMaster1.xml" Id="R76110b614e1b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1cf03c0c1444ab" /><Relationship Type="http://schemas.openxmlformats.org/officeDocument/2006/relationships/notesMaster" Target="/ppt/notesMasters/notesMaster1.xml" Id="R4fd2f665a2e6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d59643e3549b4" /><Relationship Type="http://schemas.openxmlformats.org/officeDocument/2006/relationships/notesMaster" Target="/ppt/notesMasters/notesMaster1.xml" Id="R46ce3c92ced5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a95ed08dc443f7" /><Relationship Type="http://schemas.openxmlformats.org/officeDocument/2006/relationships/notesMaster" Target="/ppt/notesMasters/notesMaster1.xml" Id="Re04726fce25f4b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0c262b83942d2" /><Relationship Type="http://schemas.openxmlformats.org/officeDocument/2006/relationships/notesMaster" Target="/ppt/notesMasters/notesMaster1.xml" Id="Rbafce02e594444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3ea75c69c49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1c2458fa9448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AS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bef003cb14cc1" /><Relationship Type="http://schemas.openxmlformats.org/officeDocument/2006/relationships/slideLayout" Target="/ppt/slideLayouts/slideLayout1.xml" Id="R73b9caf5fe0747d7" /><Relationship Type="http://schemas.openxmlformats.org/officeDocument/2006/relationships/slideLayout" Target="/ppt/slideLayouts/slideLayout2.xml" Id="Rfaa914f1fd754ae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9caf5fe0747d7"/>
    <p:sldLayoutId xmlns:r="http://schemas.openxmlformats.org/officeDocument/2006/relationships" id="2147483650" r:id="Rfaa914f1fd754aee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c5e42f980645ad" /><Relationship Type="http://schemas.openxmlformats.org/officeDocument/2006/relationships/notesSlide" Target="/ppt/notesSlides/notesSlide1.xml" Id="R451ec98c2ef4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ebf7a6c7740ca" /><Relationship Type="http://schemas.openxmlformats.org/officeDocument/2006/relationships/notesSlide" Target="/ppt/notesSlides/notesSlide2.xml" Id="R6ebe43299267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38ab3c1344741" /><Relationship Type="http://schemas.openxmlformats.org/officeDocument/2006/relationships/notesSlide" Target="/ppt/notesSlides/notesSlide3.xml" Id="Reb6d33deefa947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0ea90e441c4bd5" /><Relationship Type="http://schemas.openxmlformats.org/officeDocument/2006/relationships/notesSlide" Target="/ppt/notesSlides/notesSlide4.xml" Id="Rc99a64db01af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94138f64c4b3e" /><Relationship Type="http://schemas.openxmlformats.org/officeDocument/2006/relationships/notesSlide" Target="/ppt/notesSlides/notesSlide5.xml" Id="Rc2e29d16904d43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203073e1b4106" /><Relationship Type="http://schemas.openxmlformats.org/officeDocument/2006/relationships/notesSlide" Target="/ppt/notesSlides/notesSlide6.xml" Id="Rcf71347befa2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4aa81e43164d55" /><Relationship Type="http://schemas.openxmlformats.org/officeDocument/2006/relationships/notesSlide" Target="/ppt/notesSlides/notesSlide7.xml" Id="R133d851ab7b943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52A524B-E3AF-4798-9F67-3D08A71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377440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660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DE9169-9118-4F4E-A249-53395BFD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AMD ACT II · TRACK 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E2F25A-3006-4EB4-BE49-1E49467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Kaaval Assurance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DBED3D-637E-4BD9-8171-62DCA3C6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6400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28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Routers predict.
</a:t>
            </a:r>
            <a:r>
              <a:rPr sz="28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Kaaval verifies.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786FF3-E29D-4522-AAD8-633A94A9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583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An assurance layer for AI decisions — checked locally on AMD compute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before anyone downstream sees the answer.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1EF438-7F66-45C3-B364-C08FCC1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Courier New"/>
                <a:ea typeface="Courier New"/>
                <a:cs typeface="Courier New"/>
              </a:rPr>
              <a:t>VERIFY, NOT PREDICT. RECEIPTS, NOT PROMISES.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048CB7-E543-4F85-A539-31EAC9C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71600"/>
            <a:ext cx="4114800" cy="393192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C5997B-676C-42B6-852E-3725AB0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ONE PUBLIC CONTAINER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87694F-8D6F-4295-8728-C38B4CA1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4114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AMD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Gemma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ROCm / vLLM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93221A8-36B8-49E8-AC84-3CB795B2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F6FDA50-651B-4300-95D8-3F78D2DB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749040"/>
            <a:ext cx="3566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Evidence Baseline — no credentials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Live Session — BYOK when needed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E6F3099-BFD9-4263-AA70-A177CB5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572000"/>
            <a:ext cx="30175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D3C8F6B-5243-4C9C-A72A-E9606D8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5720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6EE7B7"/>
                </a:solidFill>
                <a:latin typeface="Arial"/>
                <a:ea typeface="Arial"/>
                <a:cs typeface="Arial"/>
              </a:rPr>
              <a:t>RECEIPTS, NOT PROMISES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79AB84-086F-4D98-95E3-8DAC207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KaavalAI · AMD GPU · Gemma 3 · Fireworks AI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CB731AD-0A18-48C8-A4C5-91508AE8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E17565B-6F5E-41E2-AD9C-CE044BC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github.com/kaaval-ai/kaaval-assurance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3F51E49-4163-4F79-B01E-B57603B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7046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667BB4-7A19-492D-95BB-D14CB302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THE ACCOUNTABILITY GAP IS NOT HYPOTHETICAL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3C26AA-5D71-4845-AD6D-EF41810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tribunal already rejected “the AI is separate.”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A103AF-337F-499B-A271-86D32D83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Moffatt v. Air Canada, BC Civil Resolution Tribunal, Feb 2024 — a real ruling, not a projection.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396C99-3B19-43D9-97DC-35900BB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5486400" cy="41148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2700">
            <a:solidFill>
              <a:srgbClr val="FED7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162E63-061B-4D18-9C5F-6AC2EE8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WHAT HAPPENED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ED8D5AE-0887-4570-8389-5F0F1BC8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48463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742A2A"/>
                </a:solidFill>
                <a:latin typeface="Arial"/>
                <a:ea typeface="Arial"/>
                <a:cs typeface="Arial"/>
              </a:rPr>
              <a:t>Air Canada's chatbot told a customer he could book at full fare and claim a bereavement discount </a:t>
            </a:r>
            <a:r>
              <a:rPr sz="1350" i="1">
                <a:solidFill>
                  <a:srgbClr val="742A2A"/>
                </a:solidFill>
                <a:latin typeface="Arial"/>
                <a:ea typeface="Arial"/>
                <a:cs typeface="Arial"/>
              </a:rPr>
              <a:t>after</a:t>
            </a:r>
            <a:r>
              <a:rPr sz="1350">
                <a:solidFill>
                  <a:srgbClr val="742A2A"/>
                </a:solidFill>
                <a:latin typeface="Arial"/>
                <a:ea typeface="Arial"/>
                <a:cs typeface="Arial"/>
              </a:rPr>
              <a:t> travel. The real policy required the request </a:t>
            </a:r>
            <a:r>
              <a:rPr sz="1350" i="1">
                <a:solidFill>
                  <a:srgbClr val="742A2A"/>
                </a:solidFill>
                <a:latin typeface="Arial"/>
                <a:ea typeface="Arial"/>
                <a:cs typeface="Arial"/>
              </a:rPr>
              <a:t>before</a:t>
            </a:r>
            <a:r>
              <a:rPr sz="1350">
                <a:solidFill>
                  <a:srgbClr val="742A2A"/>
                </a:solidFill>
                <a:latin typeface="Arial"/>
                <a:ea typeface="Arial"/>
                <a:cs typeface="Arial"/>
              </a:rPr>
              <a:t> travel — the chatbot's answer was fluent, confident, and wrong.
</a:t>
            </a:r>
            <a:r>
              <a:rPr sz="1350">
                <a:solidFill>
                  <a:srgbClr val="742A2A"/>
                </a:solidFill>
                <a:latin typeface="Arial"/>
                <a:ea typeface="Arial"/>
                <a:cs typeface="Arial"/>
              </a:rPr>
              <a:t>Air Canada argued the chatbot was “a separate legal entity responsible for its own actions.” The tribunal rejected that outright and held the airline liable: $812 CAD.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8EE8C7-CD7A-4669-889C-B0D300E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5486400" cy="41148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700">
            <a:solidFill>
              <a:srgbClr val="BBF7D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D1263A4-C883-4125-A256-F444B1A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9456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THE PATTERN KAAVAL GATES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B9F8647-CD45-47C0-8EFD-F0259B9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60320"/>
            <a:ext cx="48463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66534"/>
                </a:solidFill>
                <a:latin typeface="Arial"/>
                <a:ea typeface="Arial"/>
                <a:cs typeface="Arial"/>
              </a:rPr>
              <a:t>The correct answer wasn't unknowable — it was sitting in a linked policy page in the same conversation. A fluent model still produced the wrong one.
</a:t>
            </a:r>
            <a:r>
              <a:rPr sz="1350">
                <a:solidFill>
                  <a:srgbClr val="166534"/>
                </a:solidFill>
                <a:latin typeface="Arial"/>
                <a:ea typeface="Arial"/>
                <a:cs typeface="Arial"/>
              </a:rPr>
              <a:t>This is exactly the shape of failure a deterministic contract check catches: not “is this text safe,” but </a:t>
            </a: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“does this claim match the policy on file.”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C4FDB57-49B1-42F5-B529-B2E8E1B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Source: BC Civil Resolution Tribunal ruling, Moffatt v. Air Canada (Feb 2024) · publicly reported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AE92CC9-5C33-4C52-8927-169AE0A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56955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4C6D774-7D1C-4524-92D0-36516BBF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A03EE12-FA24-436D-8B43-39F6FFFC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Same shape of failure, caught before it ships.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417D52-C148-451E-BEEA-666556A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A real contract from this repo: support.refund_decision — the $500 cap is a range check, not a prompt.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B221CF6-E9D9-403D-A60A-CEB08F1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3520440" cy="356616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6F7E21-81CA-4BA0-8D79-373C0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137160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2700">
            <a:solidFill>
              <a:srgbClr val="FED7D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73D0E5-941C-48E6-AC94-5E82A0B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STRUGGLE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F27CD2-393B-4119-ABD8-CE0A2A47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candidate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165991-3627-44B8-9765-9D7D1BB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5468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9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Refund approved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D0E87A-58FC-4F12-AFE0-AE3E6E4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9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output is valid JSON and sounds helpful — but the purchase was 11 months ago, outside the 30-day window.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582E00A-1031-4A37-811B-0E37389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3520440" cy="356616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EE2AA24-7F67-449B-B4F5-A830A97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286000"/>
            <a:ext cx="137160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2700">
            <a:solidFill>
              <a:srgbClr val="FDE68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324DBAC-9B18-4E66-ACDA-9920DAE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28600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CATCH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A4ED1-C829-4F14-B740-E6B5D41A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889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Deterministic rule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DEF19C-C50C-4A72-A5D8-D757C7D8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154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 b="1">
                <a:solidFill>
                  <a:srgbClr val="B45309"/>
                </a:solidFill>
                <a:latin typeface="Courier New"/>
                <a:ea typeface="Courier New"/>
                <a:cs typeface="Courier New"/>
              </a:rPr>
              <a:t>outside_refund_window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 b="1">
                <a:solidFill>
                  <a:srgbClr val="B45309"/>
                </a:solidFill>
                <a:latin typeface="Courier New"/>
                <a:ea typeface="Courier New"/>
                <a:cs typeface="Courier New"/>
              </a:rPr>
              <a:t>_requires_denial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DCFA908-E6EF-4BAB-9915-78AE081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023360"/>
            <a:ext cx="2971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Layer 1 rejects with a stable check ID. No model is asked to judge another model inline.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914317-C162-4B8A-8FF6-4815B9F5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011680"/>
            <a:ext cx="3520440" cy="356616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3693E54-7689-4258-872F-605CF6A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86000"/>
            <a:ext cx="137160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700">
            <a:solidFill>
              <a:srgbClr val="BBF7D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A2BCBDF-A79C-4E76-9692-6CA3D11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8600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RESCUE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0F47273-DCD6-4F1A-B48E-EBF5C25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7889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Same gate, next tier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132163-FED9-4842-B170-227BB5E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15468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9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Escalate or deny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C69581B-13E8-4490-B07F-471CDCE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749040"/>
            <a:ext cx="29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Every attempt is retained as a replayable receipt: provider, cost, latency, route, and which checks ran.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0828A81-B596-479F-BDA8-8A06510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56616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92CBB0-3870-4F68-8020-D2730174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56616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EDB316-839B-4D7C-909D-F8B191BB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2432"/>
            <a:ext cx="112471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3ED6EE9-B117-423A-BAB5-F87D10B0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42432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 content filter.  </a:t>
            </a:r>
            <a:r>
              <a:rPr sz="1250">
                <a:solidFill>
                  <a:srgbClr val="CBD5E1"/>
                </a:solidFill>
                <a:latin typeface="Arial"/>
                <a:ea typeface="Arial"/>
                <a:cs typeface="Arial"/>
              </a:rPr>
              <a:t>A guardrail blocks bad text. Kaaval decides which model answers — and proves what it cost.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DA0CF8A-CA79-4A96-B00C-3AB760F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Synthetic hard case · support.refund_decision · deterministic grounding rule (src/kaaval_assurance/contracts/support.py)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499F461-1566-424E-8E24-5CB22EA8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20335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FE573D-B41E-4382-8A71-CEE2E991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DFB2BE-48C6-4FDF-BD9C-BE38BA1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5-step assurance path.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A6BFD8-6BE1-4DAE-9528-FF1E0D92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What each step does — and what breaks without it.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87611BE-1E78-4856-9229-4EE7C6AB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2117750" cy="3703320"/>
          </a:xfrm>
          <a:prstGeom xmlns:a="http://schemas.openxmlformats.org/drawingml/2006/main" prst="roundRect">
            <a:avLst>
              <a:gd name="adj" fmla="val 345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E52741-57C1-4958-A346-47F16CC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3840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030"/>
          </a:solidFill>
          <a:ln xmlns:a="http://schemas.openxmlformats.org/drawingml/2006/main" w="12700">
            <a:solidFill>
              <a:srgbClr val="C5303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5E32B9-569F-4292-B53F-D746A317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5E9BEB0-532A-4C86-B882-9402D5F7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249424"/>
            <a:ext cx="129479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STRUGGLE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CB24A04-923E-4776-9AA8-201FEF4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61488"/>
            <a:ext cx="175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BACD02-0066-4245-B55C-0B0478A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0D0006-E5DE-4A35-851D-31CD924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75199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111827"/>
                </a:solidFill>
                <a:latin typeface="Arial"/>
                <a:ea typeface="Arial"/>
                <a:cs typeface="Arial"/>
              </a:rPr>
              <a:t>An open-weight model on AMD answers first.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0E8881E-F2AE-425F-B76C-5FDC359F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17BB002-FBA5-4448-B2FC-F3F2971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175199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Cloud-for-everything is the cost you're trying to avoid. Most answers don't need it.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036E157-0C24-4D79-A641-815A78D7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662" y="3589020"/>
            <a:ext cx="2011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456486E-7F2C-4FBA-A7D5-59EF0A0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542" y="2011680"/>
            <a:ext cx="2117750" cy="3703320"/>
          </a:xfrm>
          <a:prstGeom xmlns:a="http://schemas.openxmlformats.org/drawingml/2006/main" prst="roundRect">
            <a:avLst>
              <a:gd name="adj" fmla="val 345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170E699-85D3-41B9-B690-7A0F141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2212848"/>
            <a:ext cx="3840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B8352BF-78D6-49E3-888D-EB49355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22128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5D3B080-B28E-4A0F-AEA2-DF72C20E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910" y="2249424"/>
            <a:ext cx="129479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CATCH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9E12106-B5E0-4859-9CE1-7C7C065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2761488"/>
            <a:ext cx="175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C73B99E-38FB-4E11-8FD9-90D5619B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288036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908AF24-9C06-45BA-84DD-83D3AB8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3108960"/>
            <a:ext cx="175199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111827"/>
                </a:solidFill>
                <a:latin typeface="Arial"/>
                <a:ea typeface="Arial"/>
                <a:cs typeface="Arial"/>
              </a:rPr>
              <a:t>Layer 1 checks the contract in code — shape, enums, ranges, policy rules. No model judges a model.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D078D6-FF18-4254-BDA1-6BBBA25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434340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4B2C553-5F4B-44E7-9BA4-CB71566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4572000"/>
            <a:ext cx="175199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A fluent wrong answer passes every “looks safe” filter. Only an explicit contract catches it.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E946936-EC86-4A24-B710-3463D2E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05" y="3589020"/>
            <a:ext cx="2011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10687C-7529-4915-8090-26220A9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885" y="2011680"/>
            <a:ext cx="2117750" cy="3703320"/>
          </a:xfrm>
          <a:prstGeom xmlns:a="http://schemas.openxmlformats.org/drawingml/2006/main" prst="roundRect">
            <a:avLst>
              <a:gd name="adj" fmla="val 345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A8B7383-4009-48F9-B3C8-8ECADAE7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2212848"/>
            <a:ext cx="3840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12700">
            <a:solidFill>
              <a:srgbClr val="15803D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4EEFF8D-2448-472E-A592-CDD0F4A2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22128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67C4BBA-1FB1-4A4E-B4E1-5A85695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53" y="2249424"/>
            <a:ext cx="129479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RESCUE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3CA03DA-7C03-4543-BD3E-89F7FC33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2761488"/>
            <a:ext cx="175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678B985-9294-47F4-ACB4-7108B577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288036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8B212B4-CDDB-4556-9747-B2753F89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3108960"/>
            <a:ext cx="175199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111827"/>
                </a:solidFill>
                <a:latin typeface="Arial"/>
                <a:ea typeface="Arial"/>
                <a:cs typeface="Arial"/>
              </a:rPr>
              <a:t>Only a failed answer pays for the stronger remote model — checked by the identical contract.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BA8D216-9A81-47F8-9B91-9958451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434340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C49CEE6-7139-4F17-931F-0D5D0F6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765" y="4572000"/>
            <a:ext cx="175199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Paying for the expensive model every call is waste. Trusting it blindly is the same risk again.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9A78ACF-8ABE-44A8-AF6F-879C969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347" y="3589020"/>
            <a:ext cx="2011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B463914-88B4-4BF7-8A8C-22F9793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227" y="2011680"/>
            <a:ext cx="2117750" cy="3703320"/>
          </a:xfrm>
          <a:prstGeom xmlns:a="http://schemas.openxmlformats.org/drawingml/2006/main" prst="roundRect">
            <a:avLst>
              <a:gd name="adj" fmla="val 345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97ADDEF-634A-4A9A-BD27-4A0C15F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2212848"/>
            <a:ext cx="3840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338C0D0-4A0B-4F72-BCA1-DB59628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22128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D54BCD8-40C4-4FEF-8501-C4E85AC5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595" y="2249424"/>
            <a:ext cx="129479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B14869A-D2CB-4553-9C49-FB86A3B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2761488"/>
            <a:ext cx="175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0A2C3C0-1E79-422B-B52D-F3BC4268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288036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D11F62F-112F-42F0-AF0F-1B8E7DEF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3108960"/>
            <a:ext cx="175199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Recent failures raise a category score; repeated failures pre-route that category to remote.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DFCA9E3-B752-4740-BC85-A0F6953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434340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04BC203-51FC-4396-8D84-5F868AC9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107" y="4572000"/>
            <a:ext cx="175199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Model quality drifts silently between versions. Static routing can't see it coming.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3C29F5E-3C35-4A9C-90D0-230E2AFB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690" y="3589020"/>
            <a:ext cx="2011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F9AE8B5D-7B3F-424A-9291-F133B5A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570" y="2011680"/>
            <a:ext cx="2117750" cy="3703320"/>
          </a:xfrm>
          <a:prstGeom xmlns:a="http://schemas.openxmlformats.org/drawingml/2006/main" prst="roundRect">
            <a:avLst>
              <a:gd name="adj" fmla="val 345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62AB954-00CE-47D1-9C03-C5F15A8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2212848"/>
            <a:ext cx="384048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938C98F4-0525-4A92-9AF5-3E73132D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22128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E732318-CC12-4337-9F28-F97A7B3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38" y="2249424"/>
            <a:ext cx="129479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917CE21-DB7C-480A-ACB6-4DC3A058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2761488"/>
            <a:ext cx="1751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3360836-7201-4129-B516-DE081ABF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288036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F36C7466-8DE6-4E81-A5CC-3FFD13E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3108960"/>
            <a:ext cx="175199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Provider, cost, tokens, latency, checks, and routing reason are stored as a replayable receipt.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A0C43A4-C8D0-46FF-B8ED-36DCA433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4343400"/>
            <a:ext cx="1751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3B88D3CD-3F76-4658-ABE7-1EE4266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50" y="4572000"/>
            <a:ext cx="175199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“The AI decided” is not a defense. You need to reconstruct exactly what happened, later.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8D81B06-E48E-4AC2-8DF4-A5545B8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1124712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14F0CB85-38AF-4C94-ABA1-591A45C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9788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Layer 1 (Catch) gates acceptance. Adapt is recent-failure routing. Layer 3 audit is display-only — it never gates live.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24C7380A-CF0A-458F-8D36-36B83E8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Implemented path: AssurancePipeline → Router → Verifier → TrajectoryStore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F6B244D-EDD6-4F2E-97A6-D6696ED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46520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21953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FFB27A-9909-4C2F-A311-1112063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EVIDENCE, SEPARATED HONESTLY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A182C7-0FBB-4A4A-941D-2F49232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AMD proves execution. Fireworks proves selective economics.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B75834A-EAD2-4CAE-AE33-8C1F4CD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Two artifacts, two claims — never blended into one result.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D9D15E5-22B0-4116-BDD6-2E503F06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265176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D2EB51-FC75-468B-85D1-3B8B29F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8997558-BBB0-41F3-B5D4-BF349097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0360"/>
            <a:ext cx="105156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EA6198-F497-42A4-A174-745AB654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0360"/>
            <a:ext cx="1051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FC54E1-DCF8-45BF-A800-39B02582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Contract-Conformance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F54136-0C25-4C2B-85DE-E1651FA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4787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Layer 1 · 16-case eval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91600AD-87C6-4314-A6FF-4AA9E04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011680"/>
            <a:ext cx="265176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6A2373B-BF8E-478B-B479-42E5833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4028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324.6 / 479.6ms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D01EB76-2C7B-40BF-B49E-C77C9091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220" y="2880360"/>
            <a:ext cx="105156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0086106-524B-4C0C-B571-5FCBBB8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220" y="2880360"/>
            <a:ext cx="1051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D396BC-8414-4A32-8942-B238321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46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Latency P50 / P95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D059647-D217-4E35-95BE-6E64B4A7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4787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16-case eval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0D19C6-7D09-4D47-9102-6F1AB67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11680"/>
            <a:ext cx="265176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A51EA2C-5180-408D-BB2C-AF3029E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4028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768209F-D18B-4882-BACD-A3AD457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2880360"/>
            <a:ext cx="105156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392325-6A52-40B4-9108-A98CA3F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2880360"/>
            <a:ext cx="1051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5BF861-7DC6-4656-8309-1C96D090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Remote Calls Avoided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0BDD4F-0CE7-43FC-8DAD-F4349010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787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87.5% reduction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912F631-5528-4665-8344-267CB97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011680"/>
            <a:ext cx="265176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DE164CF-FE5F-4503-A2CC-575251E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24028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$0.0333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359DAAD-7373-4701-8137-E038972B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880360"/>
            <a:ext cx="105156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DC05BD-0046-43CC-8A31-B861D93B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880360"/>
            <a:ext cx="1051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248604D-4DEA-40C2-8766-CFDE3FBB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246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Configured Cost Avoided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CCE53F-BE50-4DD8-B8BA-4FE1D21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54787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88.7% reduction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0FAEB73-7F98-43C7-822D-2DF9A7F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471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39A76F5-AAF6-4BBA-A56B-2FE83594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43400"/>
            <a:ext cx="106070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AMD/ATI host · 47.98 GiB VRAM · gfx1100 target · gemma-3-1b-it via ROCm + vLLM
</a:t>
            </a:r>
            <a:r>
              <a:rPr sz="1250">
                <a:solidFill>
                  <a:srgbClr val="4B5563"/>
                </a:solidFill>
                <a:latin typeface="Arial"/>
                <a:ea typeface="Arial"/>
                <a:cs typeface="Arial"/>
              </a:rPr>
              <a:t>Exact GPU marketing name unavailable; none inferred.
</a:t>
            </a:r>
            <a:r>
              <a:rPr sz="125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Configured-cost figure is a price estimate from recorded token counts, not a provider invoice — tagged CONFIGURED, not MEASURED, on purpose.
</a:t>
            </a:r>
            <a:r>
              <a:rPr sz="1250" b="1">
                <a:solidFill>
                  <a:srgbClr val="15803D"/>
                </a:solidFill>
                <a:latin typeface="Courier New"/>
                <a:ea typeface="Courier New"/>
                <a:cs typeface="Courier New"/>
              </a:rPr>
              <a:t>bundle live-5be3acfa-amd-gemma-proof · checksummed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4820E3A-310D-43B2-A43B-998BC0A5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Sources: artifacts/demo-live-* · artifacts/fireworks-cost-comparison-20260711T054906Z.json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15CA2E7-3ADE-4326-A8B5-380B8AE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4773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62B320-5C4F-434C-8047-C48A1FE8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63D496-4D08-4CC7-9E79-AC17CB9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adoption is mainstream. Operational maturity is not.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1ECAC4-6F5F-4400-96C7-D43D539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AI is already handling customer interactions. Production-grade controls have not caught up.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DD835B3-AA19-4B05-8333-CD8D980D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361188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0F13A3-892D-4000-AC98-B6885759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0008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51%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86951E-C2E8-4FEA-BF18-EF9D27F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of leaders have integrated AI into customer interactions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38244C-9268-4D00-B273-E824304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02152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adoption is already mainstream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695BF7-5007-44BB-B85E-BA6FC39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148840"/>
            <a:ext cx="361188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BBF7D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C30DC47-9D2F-471E-BA2B-C5247FB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350008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21.6%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1627BB-751A-4EBD-B4AF-AD84356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06324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 full integration in this area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03E052-0490-43CE-AE97-5B2E101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502152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15803D"/>
                </a:solidFill>
                <a:latin typeface="Arial"/>
                <a:ea typeface="Arial"/>
                <a:cs typeface="Arial"/>
              </a:rPr>
              <a:t>operational maturity still lags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3C80CE-B958-4BFF-8B41-7DB9B70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148840"/>
            <a:ext cx="361188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703356-AEE2-4C5E-860F-986ED1F8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350008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$15.8B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F337C33-DFAA-431E-9C15-C9479AE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06324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for customer service market, 2025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37BC0C-B2F0-4497-A888-20A2C64D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502152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surface Kaaval attaches to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909B246-736A-4367-BF31-6F99F8C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11247120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13FDDF3-75BE-4146-8FB9-ACC38DC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EC77AA-651B-4246-9E9F-BA5E617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platform teams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EB1F96A-93CB-4BF2-B2D2-99B75A22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6632"/>
            <a:ext cx="3520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Refund, triage, severity decisions where a wrong answer triggers a real action.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C7FECF-CEF7-416A-AC18-EE6AAA74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4663440"/>
            <a:ext cx="182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5CCB3F4-3003-4D9A-9CD4-E0DBD55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43484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EXPAND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53D65EE-6F15-4221-8AF1-ED40AA41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70916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Regulated verticals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D66C676-9944-435F-9295-0B07135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5056632"/>
            <a:ext cx="3520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Support, telecom, finance, healthcare — every flow where “probably right” is a liability.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69EC21D-D685-4B90-A241-89ACB03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4663440"/>
            <a:ext cx="182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0C5EAC-8FA9-4F54-B373-C88CB52D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43484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213F679-00D0-492F-975E-6713B768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70916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AI action, a receipt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314FEA7-0ABD-48B5-91BC-B09FE1ED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5056632"/>
            <a:ext cx="3520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acceptance layer on top of inference spend — not the whole market, the governance slice of it.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73165-FB02-48BD-BA17-0ACB7CB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Sources: RingCentral, How AI is Reshaping Contact Centers (2025), p. 2; Grand View Research, AI for Customer Service Market (2025). Kaaval targets the assurance layer, not the whole market.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0DD6317-3E30-4B82-B2B7-C7FB7889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4644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775658-F563-4136-AD87-570303E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RUNNABLE DELIVERY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CF5915-C57E-4725-8858-5D99633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Pull one public container. Evidence appears immediately.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0FC82C-C371-4B6C-AD9E-771A5086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Connect a model endpoint only when you want live assurance.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FB45D55-FB63-4E9E-ACD9-93C8F98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667512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2700">
            <a:solidFill>
              <a:srgbClr val="E5E7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B8957D-3B0A-4A43-A60E-2DD03A4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ghcr.io/kaaval-ai/kaaval-assurance:act-ii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4F8AEAD-2BC3-483F-8893-35C750F7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linux/amd64 · publicly pullable · clean-smoke verified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4C014A-00B4-4E07-850D-2AFEEA8C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BE4986-DAAE-4F1B-8E3C-58B2A87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8960"/>
            <a:ext cx="5806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Evidence Baseline — measured AMD bundle, zero credentials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6110EF-04D5-4F94-A3B8-F5F4553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93008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07E38A-43C3-47C2-B160-95A65B5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3008"/>
            <a:ext cx="5806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Session — Fireworks BYOK or reachable Ollama / vLLM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91D298C-CBB8-480A-8394-DB5424D5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77056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ACFD92F-95A2-4B81-9739-8D7B37C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7056"/>
            <a:ext cx="5806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Safe defaults — no model download; paid remote and export closed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58FDE3-12E6-4B67-8EEE-483C970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6110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7A3EDD6-3770-4374-8E8B-F545BB8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1104"/>
            <a:ext cx="5806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Acceptance — 361 tests · linux/amd64 · UID 10001 (non-root)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4B714F3-CFE0-4FE4-88E6-E43BEB9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6596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700">
            <a:solidFill>
              <a:srgbClr val="BBF7D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1E98680-6990-452F-A97F-5FC30167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75688"/>
            <a:ext cx="3794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CAF6189-2A57-4B49-B540-9F2A78B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31720"/>
            <a:ext cx="3794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Provider-neutral gateway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3EAF12-FE99-413F-945B-1DC2B6A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606040"/>
            <a:ext cx="3794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Observe decisions  ·  Evaluate contracts  ·  Produce receipts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DCACAB3-8526-49C4-A417-7FF813E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0040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BFDBF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2C246F-72E6-42A4-929D-10E852C3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310128"/>
            <a:ext cx="3794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30 DAYS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E73CF8-8980-4E6C-89CB-1204874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566160"/>
            <a:ext cx="3794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Validation before expansion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57E4B5A-9A68-450E-8A6B-087DD9D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3794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Blind semantic benchmark  ·  Two-sided Layer 3 calibration  ·  TCO experiment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4B2072C-E9B6-47B6-B52E-549F348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43484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2700">
            <a:solidFill>
              <a:srgbClr val="FDE68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B8BCFF-092D-4E18-A62E-3DF8D50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44568"/>
            <a:ext cx="3794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DESIGN PARTNERS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F1AAC0-13B5-4E51-AF3E-D6EAF20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00600"/>
            <a:ext cx="3794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Shadow-mode proof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46BBA7-93DA-438A-A8D5-311B1ED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74920"/>
            <a:ext cx="3794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Refunds and support  ·  False accept / reject rates  ·  Operational economics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871664F-E5BC-46BC-B2D8-A6E7918B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644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C46DF84-BF00-46D6-9422-0610B53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Pull one container. Inspect measured AMD evidence. Connect your endpoint when you want live assurance.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7C8A3-AEE7-4F09-9C4F-F960B6B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963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6600"/>
                </a:solidFill>
                <a:latin typeface="Arial"/>
                <a:ea typeface="Arial"/>
                <a:cs typeface="Arial"/>
              </a:rPr>
              <a:t>Kaaval Assurance · Verify, don't predict. Receipts, not promises.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57BAF65-964A-49A8-8FE2-873AD8E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github.com/kaaval-ai/kaaval-assurance · Track 3 — Unicorn / Open Innovation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1A3C0C5-C079-40C9-89EB-44E15B8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62442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2026-07-12T18:22:56.1180000Z</dcterms:created>
  <dcterms:modified xsi:type="dcterms:W3CDTF">2026-07-12T18:22:56.1180000Z</dcterms:modified>
</coreProperties>
</file>